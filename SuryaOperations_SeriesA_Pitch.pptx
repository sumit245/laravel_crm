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(₹ Cr)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1B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FY25 (Act)</c:v>
                  </c:pt>
                  <c:pt idx="1">
                    <c:v>FY26 (Proj)</c:v>
                  </c:pt>
                  <c:pt idx="2">
                    <c:v>FY27</c:v>
                  </c:pt>
                  <c:pt idx="3">
                    <c:v>FY28</c:v>
                  </c:pt>
                  <c:pt idx="4">
                    <c:v>FY29</c:v>
                  </c:pt>
                  <c:pt idx="5">
                    <c:v>FY30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3.8</c:v>
                </c:pt>
                <c:pt idx="1">
                  <c:v>8.5</c:v>
                </c:pt>
                <c:pt idx="2">
                  <c:v>21</c:v>
                </c:pt>
                <c:pt idx="3">
                  <c:v>46</c:v>
                </c:pt>
                <c:pt idx="4">
                  <c:v>82</c:v>
                </c:pt>
                <c:pt idx="5">
                  <c:v>115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D1B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2743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21808" y="2743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14416" y="2743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07024" y="2743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99632" y="2743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0" y="2743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84848" y="2743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77456" y="2743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70064" y="2743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2743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2743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47888" y="2743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0496" y="2743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33104" y="2743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100584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21808" y="100584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14416" y="100584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07024" y="100584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9632" y="100584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100584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84848" y="100584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77456" y="100584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70064" y="100584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62672" y="100584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100584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47888" y="100584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40496" y="100584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33104" y="100584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0" y="17373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21808" y="17373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14416" y="17373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07024" y="17373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99632" y="17373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17373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84848" y="17373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77456" y="17373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70064" y="17373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62672" y="17373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55280" y="17373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47888" y="17373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40496" y="17373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33104" y="17373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29200" y="246888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21808" y="246888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614416" y="246888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07024" y="246888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99632" y="246888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92240" y="246888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84848" y="246888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077456" y="246888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70064" y="246888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662672" y="246888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955280" y="246888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47888" y="246888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40496" y="246888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33104" y="246888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029200" y="320040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321808" y="320040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614416" y="320040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907024" y="320040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99632" y="320040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492240" y="320040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784848" y="320040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077456" y="320040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70064" y="320040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662672" y="320040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955280" y="320040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47888" y="320040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540496" y="320040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833104" y="320040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029200" y="39319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321808" y="39319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614416" y="39319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07024" y="39319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199632" y="39319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92240" y="39319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784848" y="39319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077456" y="39319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370064" y="39319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662672" y="39319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955280" y="39319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247888" y="39319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40496" y="39319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833104" y="39319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57200" y="10972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</a:t>
            </a:r>
            <a:endParaRPr lang="en-US" sz="6000" dirty="0"/>
          </a:p>
        </p:txBody>
      </p:sp>
      <p:sp>
        <p:nvSpPr>
          <p:cNvPr id="88" name="Text 86"/>
          <p:cNvSpPr/>
          <p:nvPr/>
        </p:nvSpPr>
        <p:spPr>
          <a:xfrm>
            <a:off x="457200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1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2200" dirty="0"/>
          </a:p>
        </p:txBody>
      </p:sp>
      <p:sp>
        <p:nvSpPr>
          <p:cNvPr id="89" name="Text 87"/>
          <p:cNvSpPr/>
          <p:nvPr/>
        </p:nvSpPr>
        <p:spPr>
          <a:xfrm>
            <a:off x="457200" y="2423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for India's Solar Revolution</a:t>
            </a:r>
            <a:endParaRPr lang="en-US" sz="1800" dirty="0"/>
          </a:p>
        </p:txBody>
      </p:sp>
      <p:sp>
        <p:nvSpPr>
          <p:cNvPr id="90" name="Shape 88"/>
          <p:cNvSpPr/>
          <p:nvPr/>
        </p:nvSpPr>
        <p:spPr>
          <a:xfrm>
            <a:off x="457200" y="3017520"/>
            <a:ext cx="4114800" cy="0"/>
          </a:xfrm>
          <a:prstGeom prst="line">
            <a:avLst/>
          </a:prstGeom>
          <a:noFill/>
          <a:ln w="19050">
            <a:solidFill>
              <a:srgbClr val="00B5A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5720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Fundraise  ·  April 2026  ·  Confidential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502920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dashandots@gmail.com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6217920" y="731520"/>
            <a:ext cx="2560320" cy="2560320"/>
          </a:xfrm>
          <a:prstGeom prst="ellipse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537960" y="1051560"/>
            <a:ext cx="1920240" cy="1920240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6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903720" y="1417320"/>
            <a:ext cx="1188720" cy="11887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949440" y="150876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Solar Buildout Is Flying Blind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0604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606040" cy="64008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Visibility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managers juggle WhatsApp threads, Excel sheets &amp; phone calls. No single source of truth across 500+ field sites.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0604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2606040" cy="64008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37560" y="20116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Leakage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237744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15% of solar panels, batteries &amp; equipment go untracked — stolen, lost, or misallocated between districts.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60604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234440"/>
            <a:ext cx="2606040" cy="64008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72200" y="20116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Chaos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72200" y="237744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inspection reports (JICR) are filled manually. Delays cost contractors penalty clauses worth crores per project.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407408"/>
            <a:ext cx="8412480" cy="54864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4622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lose 2–3 weeks per project just reconciling who installed what, where."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Sr. Project Director, Rs 400 Cr Solar EPC Firm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Pole. Full Control.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Operations is the first end-to-end project management platform purpose-built for solar EPC contractors executing government mandated streetlight and rooftop installations across India.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2651760" cy="1325880"/>
          </a:xfrm>
          <a:prstGeom prst="rect">
            <a:avLst/>
          </a:prstGeom>
          <a:solidFill>
            <a:srgbClr val="1A2F5E"/>
          </a:solidFill>
          <a:ln w="6350">
            <a:solidFill>
              <a:srgbClr val="3D5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83080"/>
            <a:ext cx="54864" cy="1325880"/>
          </a:xfrm>
          <a:prstGeom prst="rect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8745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Pole-Level Tracking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240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QR code per installation. Every panel, battery &amp; luminary linked to its pole.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783080"/>
            <a:ext cx="2651760" cy="1325880"/>
          </a:xfrm>
          <a:prstGeom prst="rect">
            <a:avLst/>
          </a:prstGeom>
          <a:solidFill>
            <a:srgbClr val="1A2F5E"/>
          </a:solidFill>
          <a:ln w="6350">
            <a:solidFill>
              <a:srgbClr val="3D5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783080"/>
            <a:ext cx="54864" cy="1325880"/>
          </a:xfrm>
          <a:prstGeom prst="rect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8745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Field Mobile API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64992" y="2240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submit surveys &amp; installations from Android in real time. Offline-first design.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783080"/>
            <a:ext cx="2651760" cy="1325880"/>
          </a:xfrm>
          <a:prstGeom prst="rect">
            <a:avLst/>
          </a:prstGeom>
          <a:solidFill>
            <a:srgbClr val="1A2F5E"/>
          </a:solidFill>
          <a:ln w="6350">
            <a:solidFill>
              <a:srgbClr val="3D5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783080"/>
            <a:ext cx="54864" cy="1325880"/>
          </a:xfrm>
          <a:prstGeom prst="rect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18745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Smart Inventory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9632" y="2240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District-locked dispatch prevents cross-region leakage. Serial-number accountability.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291840"/>
            <a:ext cx="2651760" cy="1325880"/>
          </a:xfrm>
          <a:prstGeom prst="rect">
            <a:avLst/>
          </a:prstGeom>
          <a:solidFill>
            <a:srgbClr val="1A2F5E"/>
          </a:solidFill>
          <a:ln w="6350">
            <a:solidFill>
              <a:srgbClr val="3D5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91840"/>
            <a:ext cx="54864" cy="1325880"/>
          </a:xfrm>
          <a:prstGeom prst="rect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383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Performance Engine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leaderboards &amp; trend analytics drive vendor &amp; engineer accountability.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3291840"/>
            <a:ext cx="2651760" cy="1325880"/>
          </a:xfrm>
          <a:prstGeom prst="rect">
            <a:avLst/>
          </a:prstGeom>
          <a:solidFill>
            <a:srgbClr val="1A2F5E"/>
          </a:solidFill>
          <a:ln w="6350">
            <a:solidFill>
              <a:srgbClr val="3D5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3291840"/>
            <a:ext cx="54864" cy="1325880"/>
          </a:xfrm>
          <a:prstGeom prst="rect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3383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Expense &amp; HR Hub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64992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TA/DA claims, conveyance approvals &amp; recruitment pipeline in one place.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35040" y="3291840"/>
            <a:ext cx="2651760" cy="1325880"/>
          </a:xfrm>
          <a:prstGeom prst="rect">
            <a:avLst/>
          </a:prstGeom>
          <a:solidFill>
            <a:srgbClr val="1A2F5E"/>
          </a:solidFill>
          <a:ln w="6350">
            <a:solidFill>
              <a:srgbClr val="3D5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3291840"/>
            <a:ext cx="54864" cy="1325880"/>
          </a:xfrm>
          <a:prstGeom prst="rect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9632" y="3383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Auto JICR Reports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99632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inspection certificates generated in one click from live field data.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Work Order to JICR — Fully Digital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280160"/>
            <a:ext cx="2560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12064" y="1426464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45389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33272" y="142646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" y="19202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project, assign sites, staff &amp; vendors by geographic hierarchy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53512" y="1965960"/>
            <a:ext cx="182880" cy="0"/>
          </a:xfrm>
          <a:prstGeom prst="line">
            <a:avLst/>
          </a:prstGeom>
          <a:noFill/>
          <a:ln w="19050">
            <a:solidFill>
              <a:srgbClr val="00B5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63824" y="1280160"/>
            <a:ext cx="2560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28416" y="1426464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145389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9624" y="142646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Dispatch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28416" y="19202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in-charge scans QR, dispatches items to vendor for specific district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69864" y="1965960"/>
            <a:ext cx="182880" cy="0"/>
          </a:xfrm>
          <a:prstGeom prst="line">
            <a:avLst/>
          </a:prstGeom>
          <a:noFill/>
          <a:ln w="19050">
            <a:solidFill>
              <a:srgbClr val="00B5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0176" y="1280160"/>
            <a:ext cx="2560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44768" y="1426464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145389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65976" y="142646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Survey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44768" y="19202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captures GPS + photos per pole. App validates against panchayat targets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" y="2880360"/>
            <a:ext cx="2560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2064" y="3026664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05409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33272" y="302666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Submit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" y="35204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scans panel/battery/luminary QR codes. Inventory auto-consumed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953512" y="3566160"/>
            <a:ext cx="182880" cy="0"/>
          </a:xfrm>
          <a:prstGeom prst="line">
            <a:avLst/>
          </a:prstGeom>
          <a:noFill/>
          <a:ln w="19050">
            <a:solidFill>
              <a:srgbClr val="00B5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63824" y="2880360"/>
            <a:ext cx="2560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28416" y="3026664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28416" y="305409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849624" y="302666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Sync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28416" y="35204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pushed to Remote Management System automatically. Client sees live dashboard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769864" y="3566160"/>
            <a:ext cx="182880" cy="0"/>
          </a:xfrm>
          <a:prstGeom prst="line">
            <a:avLst/>
          </a:prstGeom>
          <a:noFill/>
          <a:ln w="19050">
            <a:solidFill>
              <a:srgbClr val="00B5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80176" y="2880360"/>
            <a:ext cx="2560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44768" y="3026664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44768" y="305409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665976" y="302666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Bill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44768" y="35204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JICR auto-generated. Billing tied to verified installed pole count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971800" y="2651760"/>
            <a:ext cx="0" cy="228600"/>
          </a:xfrm>
          <a:prstGeom prst="line">
            <a:avLst/>
          </a:prstGeom>
          <a:noFill/>
          <a:ln w="19050">
            <a:solidFill>
              <a:srgbClr val="00B5A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B87D"/>
          </a:solidFill>
          <a:ln w="12700">
            <a:solidFill>
              <a:srgbClr val="2DB8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Rs 1.4 Lakh Crore Addressable Market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377440" cy="2377440"/>
          </a:xfrm>
          <a:prstGeom prst="ellipse">
            <a:avLst/>
          </a:prstGeom>
          <a:solidFill>
            <a:srgbClr val="0D1B3E">
              <a:alpha val="85000"/>
            </a:srgbClr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03197"/>
            <a:ext cx="237744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₹1.4L Cr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Solar EPC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17520" y="1554480"/>
            <a:ext cx="1828800" cy="1828800"/>
          </a:xfrm>
          <a:prstGeom prst="ellipse">
            <a:avLst/>
          </a:prstGeom>
          <a:solidFill>
            <a:srgbClr val="00B5A0">
              <a:alpha val="85000"/>
            </a:srgbClr>
          </a:solidFill>
          <a:ln w="19050">
            <a:solidFill>
              <a:srgbClr val="00B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195681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01752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₹38K Cr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3474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Streetlight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Rooftop Contractors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94960" y="1828800"/>
            <a:ext cx="1280160" cy="1280160"/>
          </a:xfrm>
          <a:prstGeom prst="ellipse">
            <a:avLst/>
          </a:prstGeom>
          <a:solidFill>
            <a:srgbClr val="F5A623">
              <a:alpha val="85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2110435"/>
            <a:ext cx="1280160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94960" y="2468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₹950 Cr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0" y="3200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Top-500 EPC Firms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1–3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75120" y="1143000"/>
            <a:ext cx="2240280" cy="3291840"/>
          </a:xfrm>
          <a:prstGeom prst="rect">
            <a:avLst/>
          </a:prstGeom>
          <a:solidFill>
            <a:srgbClr val="1A2F5E"/>
          </a:solidFill>
          <a:ln w="6350">
            <a:solidFill>
              <a:srgbClr val="3D5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234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Drivers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1691640"/>
            <a:ext cx="128016" cy="128016"/>
          </a:xfrm>
          <a:prstGeom prst="ellipse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22592" y="16459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Surya Ghar: 10M rooftop systems by 2027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12280" y="2167128"/>
            <a:ext cx="128016" cy="128016"/>
          </a:xfrm>
          <a:prstGeom prst="ellipse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22592" y="21214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RDSS: ₹3.03L Cr grid infra scheme (2021–26)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12280" y="2642616"/>
            <a:ext cx="128016" cy="128016"/>
          </a:xfrm>
          <a:prstGeom prst="ellipse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22592" y="259689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 streetlights targeted by NaURE scheme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12280" y="3118104"/>
            <a:ext cx="128016" cy="128016"/>
          </a:xfrm>
          <a:prstGeom prst="ellipse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22592" y="307238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mandates digital reporting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12280" y="3593592"/>
            <a:ext cx="128016" cy="128016"/>
          </a:xfrm>
          <a:prstGeom prst="ellipse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22592" y="35478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EPC market growing at 28% CAGR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MNRE Annual Report 2025, NITI Aayog, Bloomberg NEF India Solar Outlook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Streams, Recurring &amp; Scalable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974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9748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SaaS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₹2–5L / month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organisation, based on active projects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724912"/>
            <a:ext cx="2377440" cy="0"/>
          </a:xfrm>
          <a:prstGeom prst="line">
            <a:avLst/>
          </a:prstGeom>
          <a:noFill/>
          <a:ln w="6350">
            <a:solidFill>
              <a:srgbClr val="E0E6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834640"/>
            <a:ext cx="91440" cy="9144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7797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users &amp; roles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3246120"/>
            <a:ext cx="91440" cy="9144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19125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 API access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3657600"/>
            <a:ext cx="91440" cy="9144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60273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50K poles / project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" y="4069080"/>
            <a:ext cx="91440" cy="9144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0142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integrations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1188720"/>
            <a:ext cx="26974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1188720"/>
            <a:ext cx="2697480" cy="566928"/>
          </a:xfrm>
          <a:prstGeom prst="rect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234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1874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₹8–20L / month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383280" y="2331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+ dedicated infra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83280" y="2724912"/>
            <a:ext cx="2377440" cy="0"/>
          </a:xfrm>
          <a:prstGeom prst="line">
            <a:avLst/>
          </a:prstGeom>
          <a:noFill/>
          <a:ln w="6350">
            <a:solidFill>
              <a:srgbClr val="E0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10712" y="2834640"/>
            <a:ext cx="91440" cy="91440"/>
          </a:xfrm>
          <a:prstGeom prst="ellipse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93592" y="27797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branding &amp; domain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10712" y="3246120"/>
            <a:ext cx="91440" cy="91440"/>
          </a:xfrm>
          <a:prstGeom prst="ellipse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93592" y="319125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/ SCADA integrations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10712" y="3657600"/>
            <a:ext cx="91440" cy="91440"/>
          </a:xfrm>
          <a:prstGeom prst="ellipse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93592" y="360273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compliance reporting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10712" y="4069080"/>
            <a:ext cx="91440" cy="91440"/>
          </a:xfrm>
          <a:prstGeom prst="ellipse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93592" y="40142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CSM + SLA 99.9%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1188720"/>
            <a:ext cx="26974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1188720"/>
            <a:ext cx="2697480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1234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ADD-ONS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63640" y="1874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₹5–50 / pole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263640" y="2331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per project milestone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63640" y="2724912"/>
            <a:ext cx="2377440" cy="0"/>
          </a:xfrm>
          <a:prstGeom prst="line">
            <a:avLst/>
          </a:prstGeom>
          <a:noFill/>
          <a:ln w="6350">
            <a:solidFill>
              <a:srgbClr val="E0E6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91072" y="283464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27797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 &amp; pole sync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91072" y="324612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73952" y="319125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JICR PDF generation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91072" y="365760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73952" y="360273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media storage overages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91072" y="406908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73952" y="40142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data push credits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791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 target: 130%+  ·  Avg Contract Value: ₹48L/yr  ·  CAC Payback: &lt; 9 months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Government, Expand to EPC Ecosystem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3520440"/>
          </a:xfrm>
          <a:prstGeom prst="rect">
            <a:avLst/>
          </a:prstGeom>
          <a:solidFill>
            <a:srgbClr val="1A2F5E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26517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Contractor Beachhead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2359152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0428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top 50 RDSS &amp; PM Surya Ghar EPC firms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2907792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5292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free for first 2 projects (create dependency)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" y="3456432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40156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JICR &amp; compliance automation as wedge feature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" y="4005072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95020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mandate for digital reporting = pull demand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280160"/>
            <a:ext cx="2651760" cy="3520440"/>
          </a:xfrm>
          <a:prstGeom prst="rect">
            <a:avLst/>
          </a:prstGeom>
          <a:solidFill>
            <a:srgbClr val="1A2F5E"/>
          </a:solidFill>
          <a:ln w="10160">
            <a:solidFill>
              <a:srgbClr val="00B5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1280160"/>
            <a:ext cx="2651760" cy="64008"/>
          </a:xfrm>
          <a:prstGeom prst="rect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3898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2027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16642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Network Effects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64992" y="2359152"/>
            <a:ext cx="109728" cy="109728"/>
          </a:xfrm>
          <a:prstGeom prst="ellipse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230428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&amp; engineer profiles portable across firms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64992" y="2907792"/>
            <a:ext cx="109728" cy="109728"/>
          </a:xfrm>
          <a:prstGeom prst="ellipse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85292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District-wise inventory marketplace (B2B supply)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64992" y="3456432"/>
            <a:ext cx="109728" cy="109728"/>
          </a:xfrm>
          <a:prstGeom prst="ellipse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340156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integrations with DISCOM billing systems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64992" y="4005072"/>
            <a:ext cx="109728" cy="109728"/>
          </a:xfrm>
          <a:prstGeom prst="ellipse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395020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channel: Solar consultants &amp; CA firms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1280160"/>
            <a:ext cx="2651760" cy="3520440"/>
          </a:xfrm>
          <a:prstGeom prst="rect">
            <a:avLst/>
          </a:prstGeom>
          <a:solidFill>
            <a:srgbClr val="1A2F5E"/>
          </a:solidFill>
          <a:ln w="10160">
            <a:solidFill>
              <a:srgbClr val="2DB87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1280160"/>
            <a:ext cx="2651760" cy="64008"/>
          </a:xfrm>
          <a:prstGeom prst="rect">
            <a:avLst/>
          </a:prstGeom>
          <a:solidFill>
            <a:srgbClr val="2DB87D"/>
          </a:solidFill>
          <a:ln w="12700">
            <a:solidFill>
              <a:srgbClr val="2DB8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13898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2028+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72200" y="16642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Moat &amp; Expansion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99632" y="2359152"/>
            <a:ext cx="109728" cy="109728"/>
          </a:xfrm>
          <a:prstGeom prst="ellipse">
            <a:avLst/>
          </a:prstGeom>
          <a:solidFill>
            <a:srgbClr val="2DB87D"/>
          </a:solidFill>
          <a:ln w="12700">
            <a:solidFill>
              <a:srgbClr val="2DB87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230428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largest pole-level installation dataset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99632" y="2907792"/>
            <a:ext cx="109728" cy="109728"/>
          </a:xfrm>
          <a:prstGeom prst="ellipse">
            <a:avLst/>
          </a:prstGeom>
          <a:solidFill>
            <a:srgbClr val="2DB87D"/>
          </a:solidFill>
          <a:ln w="12700">
            <a:solidFill>
              <a:srgbClr val="2DB87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285292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O&amp;M analytics (failure forecasting)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99632" y="3456432"/>
            <a:ext cx="109728" cy="109728"/>
          </a:xfrm>
          <a:prstGeom prst="ellipse">
            <a:avLst/>
          </a:prstGeom>
          <a:solidFill>
            <a:srgbClr val="2DB87D"/>
          </a:solidFill>
          <a:ln w="12700">
            <a:solidFill>
              <a:srgbClr val="2DB87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340156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Bangladesh, Sri Lanka, Africa markets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99632" y="4005072"/>
            <a:ext cx="109728" cy="109728"/>
          </a:xfrm>
          <a:prstGeom prst="ellipse">
            <a:avLst/>
          </a:prstGeom>
          <a:solidFill>
            <a:srgbClr val="2DB87D"/>
          </a:solidFill>
          <a:ln w="12700">
            <a:solidFill>
              <a:srgbClr val="2DB87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395020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for insurance &amp; project finance products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solidFill>
            <a:srgbClr val="F5A623">
              <a:alpha val="80000"/>
            </a:srgbClr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8737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motion: Inside Sales → State-level Pilot → National Rollout  ·  Target: 60 enterprise clients by end of Year 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Owns This Category — Yet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274320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1170432"/>
            <a:ext cx="137160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18872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Ops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53712" y="1170432"/>
            <a:ext cx="137160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18872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CRM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(Salesforce)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52744" y="1170432"/>
            <a:ext cx="155448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98464" y="118872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Mgmt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(Jira/Monday)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34656" y="1170432"/>
            <a:ext cx="137160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0376" y="118872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645920"/>
            <a:ext cx="27432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6642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Pole-level GPS tracking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54680" y="1645920"/>
            <a:ext cx="1371600" cy="365760"/>
          </a:xfrm>
          <a:prstGeom prst="rect">
            <a:avLst/>
          </a:prstGeom>
          <a:solidFill>
            <a:srgbClr val="FFFDE7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6642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53712" y="1645920"/>
            <a:ext cx="13716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9432" y="16642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52744" y="1645920"/>
            <a:ext cx="15544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98464" y="16642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34656" y="1645920"/>
            <a:ext cx="13716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0376" y="16642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2029968"/>
            <a:ext cx="2743200" cy="365760"/>
          </a:xfrm>
          <a:prstGeom prst="rect">
            <a:avLst/>
          </a:prstGeom>
          <a:solidFill>
            <a:srgbClr val="EFF3FA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04825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QR-linked inventory dispatch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154680" y="2029968"/>
            <a:ext cx="1371600" cy="365760"/>
          </a:xfrm>
          <a:prstGeom prst="rect">
            <a:avLst/>
          </a:prstGeom>
          <a:solidFill>
            <a:srgbClr val="FFFDE7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204825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53712" y="2029968"/>
            <a:ext cx="1371600" cy="365760"/>
          </a:xfrm>
          <a:prstGeom prst="rect">
            <a:avLst/>
          </a:prstGeom>
          <a:solidFill>
            <a:srgbClr val="EFF3FA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9432" y="204825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52744" y="2029968"/>
            <a:ext cx="1554480" cy="365760"/>
          </a:xfrm>
          <a:prstGeom prst="rect">
            <a:avLst/>
          </a:prstGeom>
          <a:solidFill>
            <a:srgbClr val="EFF3FA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98464" y="204825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534656" y="2029968"/>
            <a:ext cx="1371600" cy="365760"/>
          </a:xfrm>
          <a:prstGeom prst="rect">
            <a:avLst/>
          </a:prstGeom>
          <a:solidFill>
            <a:srgbClr val="EFF3FA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0376" y="204825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65760" y="2414016"/>
            <a:ext cx="27432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43230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District-locked material mgmt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154680" y="2414016"/>
            <a:ext cx="1371600" cy="365760"/>
          </a:xfrm>
          <a:prstGeom prst="rect">
            <a:avLst/>
          </a:prstGeom>
          <a:solidFill>
            <a:srgbClr val="FFFDE7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24323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53712" y="2414016"/>
            <a:ext cx="13716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99432" y="24323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952744" y="2414016"/>
            <a:ext cx="15544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98464" y="2432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534656" y="2414016"/>
            <a:ext cx="13716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0376" y="24323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65760" y="2798064"/>
            <a:ext cx="2743200" cy="365760"/>
          </a:xfrm>
          <a:prstGeom prst="rect">
            <a:avLst/>
          </a:prstGeom>
          <a:solidFill>
            <a:srgbClr val="EFF3FA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28163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JICR auto-generation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154680" y="2798064"/>
            <a:ext cx="1371600" cy="365760"/>
          </a:xfrm>
          <a:prstGeom prst="rect">
            <a:avLst/>
          </a:prstGeom>
          <a:solidFill>
            <a:srgbClr val="FFFDE7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0" y="28163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553712" y="2798064"/>
            <a:ext cx="1371600" cy="365760"/>
          </a:xfrm>
          <a:prstGeom prst="rect">
            <a:avLst/>
          </a:prstGeom>
          <a:solidFill>
            <a:srgbClr val="EFF3FA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99432" y="28163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952744" y="2798064"/>
            <a:ext cx="1554480" cy="365760"/>
          </a:xfrm>
          <a:prstGeom prst="rect">
            <a:avLst/>
          </a:prstGeom>
          <a:solidFill>
            <a:srgbClr val="EFF3FA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98464" y="281635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534656" y="2798064"/>
            <a:ext cx="1371600" cy="365760"/>
          </a:xfrm>
          <a:prstGeom prst="rect">
            <a:avLst/>
          </a:prstGeom>
          <a:solidFill>
            <a:srgbClr val="EFF3FA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80376" y="28163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365760" y="3182112"/>
            <a:ext cx="27432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32004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/ SCADA integration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154680" y="3182112"/>
            <a:ext cx="1371600" cy="365760"/>
          </a:xfrm>
          <a:prstGeom prst="rect">
            <a:avLst/>
          </a:prstGeom>
          <a:solidFill>
            <a:srgbClr val="FFFDE7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0" y="3200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553712" y="3182112"/>
            <a:ext cx="13716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99432" y="3200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Custom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952744" y="3182112"/>
            <a:ext cx="15544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98464" y="3200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7534656" y="3182112"/>
            <a:ext cx="13716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80376" y="3200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365760" y="3566160"/>
            <a:ext cx="2743200" cy="365760"/>
          </a:xfrm>
          <a:prstGeom prst="rect">
            <a:avLst/>
          </a:prstGeom>
          <a:solidFill>
            <a:srgbClr val="EFF3FA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1480" y="35844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mobile API (offline)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3154680" y="3566160"/>
            <a:ext cx="1371600" cy="365760"/>
          </a:xfrm>
          <a:prstGeom prst="rect">
            <a:avLst/>
          </a:prstGeom>
          <a:solidFill>
            <a:srgbClr val="FFFDE7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00400" y="35844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4553712" y="3566160"/>
            <a:ext cx="1371600" cy="365760"/>
          </a:xfrm>
          <a:prstGeom prst="rect">
            <a:avLst/>
          </a:prstGeom>
          <a:solidFill>
            <a:srgbClr val="EFF3FA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99432" y="35844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8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5952744" y="3566160"/>
            <a:ext cx="1554480" cy="365760"/>
          </a:xfrm>
          <a:prstGeom prst="rect">
            <a:avLst/>
          </a:prstGeom>
          <a:solidFill>
            <a:srgbClr val="EFF3FA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998464" y="35844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Limited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7534656" y="3566160"/>
            <a:ext cx="1371600" cy="365760"/>
          </a:xfrm>
          <a:prstGeom prst="rect">
            <a:avLst/>
          </a:prstGeom>
          <a:solidFill>
            <a:srgbClr val="EFF3FA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580376" y="35844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365760" y="3950208"/>
            <a:ext cx="27432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11480" y="396849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Govt hierarchy support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3154680" y="3950208"/>
            <a:ext cx="1371600" cy="365760"/>
          </a:xfrm>
          <a:prstGeom prst="rect">
            <a:avLst/>
          </a:prstGeom>
          <a:solidFill>
            <a:srgbClr val="FFFDE7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00400" y="39684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4553712" y="3950208"/>
            <a:ext cx="13716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99432" y="39684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5952744" y="3950208"/>
            <a:ext cx="15544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998464" y="396849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7534656" y="3950208"/>
            <a:ext cx="13716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580376" y="39684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365760" y="4334256"/>
            <a:ext cx="2743200" cy="365760"/>
          </a:xfrm>
          <a:prstGeom prst="rect">
            <a:avLst/>
          </a:prstGeom>
          <a:solidFill>
            <a:srgbClr val="EFF3FA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11480" y="435254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TA/DA &amp; HR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3154680" y="4334256"/>
            <a:ext cx="1371600" cy="365760"/>
          </a:xfrm>
          <a:prstGeom prst="rect">
            <a:avLst/>
          </a:prstGeom>
          <a:solidFill>
            <a:srgbClr val="FFFDE7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200400" y="435254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4553712" y="4334256"/>
            <a:ext cx="1371600" cy="365760"/>
          </a:xfrm>
          <a:prstGeom prst="rect">
            <a:avLst/>
          </a:prstGeom>
          <a:solidFill>
            <a:srgbClr val="EFF3FA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599432" y="435254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5952744" y="4334256"/>
            <a:ext cx="1554480" cy="365760"/>
          </a:xfrm>
          <a:prstGeom prst="rect">
            <a:avLst/>
          </a:prstGeom>
          <a:solidFill>
            <a:srgbClr val="EFF3FA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998464" y="435254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7534656" y="4334256"/>
            <a:ext cx="1371600" cy="365760"/>
          </a:xfrm>
          <a:prstGeom prst="rect">
            <a:avLst/>
          </a:prstGeom>
          <a:solidFill>
            <a:srgbClr val="EFF3FA"/>
          </a:solidFill>
          <a:ln w="3810">
            <a:solidFill>
              <a:srgbClr val="D0D8E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580376" y="435254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95" name="Text 9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0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Operations is the only solution built natively for India's government solar mandates.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B87D"/>
          </a:solidFill>
          <a:ln w="12700">
            <a:solidFill>
              <a:srgbClr val="2DB8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VALIDATION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Revenue. Real Scale. Real Contracts.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993392" cy="1298448"/>
          </a:xfrm>
          <a:prstGeom prst="rect">
            <a:avLst/>
          </a:prstGeom>
          <a:solidFill>
            <a:srgbClr val="1A2F5E"/>
          </a:solidFill>
          <a:ln w="6350">
            <a:solidFill>
              <a:srgbClr val="3D5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1993392" cy="54864"/>
          </a:xfrm>
          <a:prstGeom prst="rect">
            <a:avLst/>
          </a:prstGeom>
          <a:solidFill>
            <a:srgbClr val="2DB87D"/>
          </a:solidFill>
          <a:ln w="12700">
            <a:solidFill>
              <a:srgbClr val="2DB8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2588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75488" y="192024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Poles tracked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42032" y="1234440"/>
            <a:ext cx="1993392" cy="1298448"/>
          </a:xfrm>
          <a:prstGeom prst="rect">
            <a:avLst/>
          </a:prstGeom>
          <a:solidFill>
            <a:srgbClr val="1A2F5E"/>
          </a:solidFill>
          <a:ln w="6350">
            <a:solidFill>
              <a:srgbClr val="3D5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42032" y="1234440"/>
            <a:ext cx="1993392" cy="54864"/>
          </a:xfrm>
          <a:prstGeom prst="rect">
            <a:avLst/>
          </a:prstGeom>
          <a:solidFill>
            <a:srgbClr val="2DB87D"/>
          </a:solidFill>
          <a:ln w="12700">
            <a:solidFill>
              <a:srgbClr val="2DB8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32588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51760" y="192024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enterprise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18304" y="1234440"/>
            <a:ext cx="1993392" cy="1298448"/>
          </a:xfrm>
          <a:prstGeom prst="rect">
            <a:avLst/>
          </a:prstGeom>
          <a:solidFill>
            <a:srgbClr val="1A2F5E"/>
          </a:solidFill>
          <a:ln w="6350">
            <a:solidFill>
              <a:srgbClr val="3D5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18304" y="1234440"/>
            <a:ext cx="1993392" cy="54864"/>
          </a:xfrm>
          <a:prstGeom prst="rect">
            <a:avLst/>
          </a:prstGeom>
          <a:solidFill>
            <a:srgbClr val="2DB87D"/>
          </a:solidFill>
          <a:ln w="12700">
            <a:solidFill>
              <a:srgbClr val="2DB8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32588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₹6.2 Cr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28032" y="192024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(trailing 12M)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94576" y="1234440"/>
            <a:ext cx="1993392" cy="1298448"/>
          </a:xfrm>
          <a:prstGeom prst="rect">
            <a:avLst/>
          </a:prstGeom>
          <a:solidFill>
            <a:srgbClr val="1A2F5E"/>
          </a:solidFill>
          <a:ln w="6350">
            <a:solidFill>
              <a:srgbClr val="3D5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94576" y="1234440"/>
            <a:ext cx="1993392" cy="54864"/>
          </a:xfrm>
          <a:prstGeom prst="rect">
            <a:avLst/>
          </a:prstGeom>
          <a:solidFill>
            <a:srgbClr val="2DB87D"/>
          </a:solidFill>
          <a:ln w="12700">
            <a:solidFill>
              <a:srgbClr val="2DB8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04304" y="132588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States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004304" y="192024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Bihar, UP, MP,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87552" y="3456432"/>
            <a:ext cx="0" cy="347472"/>
          </a:xfrm>
          <a:prstGeom prst="line">
            <a:avLst/>
          </a:prstGeom>
          <a:noFill/>
          <a:ln w="12700">
            <a:solidFill>
              <a:srgbClr val="00B5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3236976"/>
            <a:ext cx="164592" cy="164592"/>
          </a:xfrm>
          <a:prstGeom prst="ellipse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057400" y="32004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launched with first Bihar streetlight project (28,000 poles)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87552" y="3803904"/>
            <a:ext cx="0" cy="347472"/>
          </a:xfrm>
          <a:prstGeom prst="line">
            <a:avLst/>
          </a:prstGeom>
          <a:noFill/>
          <a:ln w="12700">
            <a:solidFill>
              <a:srgbClr val="00B5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248" y="3584448"/>
            <a:ext cx="164592" cy="164592"/>
          </a:xfrm>
          <a:prstGeom prst="ellipse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3547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057400" y="35478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 Cr ARR milestone. Mobile API live. Three concurrent projects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87552" y="4151376"/>
            <a:ext cx="0" cy="347472"/>
          </a:xfrm>
          <a:prstGeom prst="line">
            <a:avLst/>
          </a:prstGeom>
          <a:noFill/>
          <a:ln w="12700">
            <a:solidFill>
              <a:srgbClr val="00B5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" y="3931920"/>
            <a:ext cx="164592" cy="164592"/>
          </a:xfrm>
          <a:prstGeom prst="ellipse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38953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057400" y="389534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QR tracking shipped. District-lock compliance adopted by 8 clients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87552" y="4498848"/>
            <a:ext cx="0" cy="347472"/>
          </a:xfrm>
          <a:prstGeom prst="line">
            <a:avLst/>
          </a:prstGeom>
          <a:noFill/>
          <a:ln w="12700">
            <a:solidFill>
              <a:srgbClr val="00B5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1248" y="4279392"/>
            <a:ext cx="164592" cy="164592"/>
          </a:xfrm>
          <a:prstGeom prst="ellipse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97280" y="4242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057400" y="42428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poles tracked. RMS auto-sync launched. Performance leaderboard feature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41248" y="4626864"/>
            <a:ext cx="164592" cy="164592"/>
          </a:xfrm>
          <a:prstGeom prst="ellipse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280" y="45902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057400" y="459028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₹6.2 Cr ARR. 12 enterprise clients. MP &amp; Rajasthan expansion live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Who've Lived the Problem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97480" cy="731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371600"/>
            <a:ext cx="868680" cy="868680"/>
          </a:xfrm>
          <a:prstGeom prst="ellipse">
            <a:avLst/>
          </a:prstGeom>
          <a:solidFill>
            <a:srgbClr val="0D1B3E">
              <a:alpha val="80000"/>
            </a:srgbClr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408176"/>
            <a:ext cx="868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75488" y="23317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 Ranjan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263347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97180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years in solar EPC. Led digital transformation for 3 large government contractors across Bihar &amp; UP. Built Surya Ops to solve his own pain.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188720"/>
            <a:ext cx="2697480" cy="73152"/>
          </a:xfrm>
          <a:prstGeom prst="rect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1371600"/>
            <a:ext cx="868680" cy="868680"/>
          </a:xfrm>
          <a:prstGeom prst="ellipse">
            <a:avLst/>
          </a:prstGeom>
          <a:solidFill>
            <a:srgbClr val="00B5A0">
              <a:alpha val="80000"/>
            </a:srgbClr>
          </a:solidFill>
          <a:ln w="19050">
            <a:solidFill>
              <a:srgbClr val="00B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1408176"/>
            <a:ext cx="868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55848" y="23317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VP Eng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55848" y="263347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hired with raise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97180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Ex-Zoho/Freshworks SaaS engineer with government tech background. Pipeline of 3 candidates identified.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18872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188720"/>
            <a:ext cx="26974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1371600"/>
            <a:ext cx="868680" cy="868680"/>
          </a:xfrm>
          <a:prstGeom prst="ellipse">
            <a:avLst/>
          </a:prstGeom>
          <a:solidFill>
            <a:srgbClr val="F5A623">
              <a:alpha val="80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1408176"/>
            <a:ext cx="868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236208" y="23317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Sales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36208" y="263347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hired — Q3 2026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297180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of 40+ EPC firm relationships across RDSS contractors. Domain-specific enterprise sales background required.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434840"/>
            <a:ext cx="8412480" cy="548640"/>
          </a:xfrm>
          <a:prstGeom prst="rect">
            <a:avLst/>
          </a:prstGeom>
          <a:solidFill>
            <a:srgbClr val="EFF3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526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Board: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828800" y="45262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Ex-MNRE Deputy Director  ·  IIM-A Solar Finance Professor  ·  Former CTO, CESC Limited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B87D"/>
          </a:solidFill>
          <a:ln w="12700">
            <a:solidFill>
              <a:srgbClr val="2DB8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₹100 Cr ARR by FY2030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9728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097280"/>
            <a:ext cx="278892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8E0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113385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223760" y="11338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223760" y="13898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SaaS-grade margins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89320" y="1755648"/>
            <a:ext cx="2788920" cy="566928"/>
          </a:xfrm>
          <a:prstGeom prst="rect">
            <a:avLst/>
          </a:prstGeom>
          <a:solidFill>
            <a:srgbClr val="EFF3FA"/>
          </a:solidFill>
          <a:ln w="5080">
            <a:solidFill>
              <a:srgbClr val="D8E0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179222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130%+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223760" y="17922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223760" y="20482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&gt; churn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89320" y="2414016"/>
            <a:ext cx="278892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8E0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24505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9 mo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23760" y="24505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223760" y="270662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sales motion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989320" y="3072384"/>
            <a:ext cx="2788920" cy="566928"/>
          </a:xfrm>
          <a:prstGeom prst="rect">
            <a:avLst/>
          </a:prstGeom>
          <a:solidFill>
            <a:srgbClr val="EFF3FA"/>
          </a:solidFill>
          <a:ln w="5080">
            <a:solidFill>
              <a:srgbClr val="D8E0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3108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12x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223760" y="31089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223760" y="33649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989320" y="3730752"/>
            <a:ext cx="278892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8E0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80760" y="376732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FY28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7223760" y="37673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223760" y="402336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this raise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65760" y="480060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 assume 30% of bookings from enterprise tier, remainder from core SaaS &amp; usage fees.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₹18 Crore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502920" cy="502920"/>
          </a:xfrm>
          <a:prstGeom prst="rect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134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258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Engineering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hire, mobile app native rewrite, RMS integrations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89504"/>
            <a:ext cx="502920" cy="502920"/>
          </a:xfrm>
          <a:prstGeom prst="rect">
            <a:avLst/>
          </a:prstGeom>
          <a:solidFill>
            <a:srgbClr val="2DB87D"/>
          </a:solidFill>
          <a:ln w="12700">
            <a:solidFill>
              <a:srgbClr val="2DB8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6265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9077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GTM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1638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sales team, state-level partnerships, pilots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38728"/>
            <a:ext cx="502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118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5570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Security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8130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scale-out, SOC 2 certification, data residency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187952"/>
            <a:ext cx="502920" cy="502920"/>
          </a:xfrm>
          <a:prstGeom prst="rect">
            <a:avLst/>
          </a:prstGeom>
          <a:solidFill>
            <a:srgbClr val="8A9BB5"/>
          </a:solidFill>
          <a:ln w="12700">
            <a:solidFill>
              <a:srgbClr val="8A9B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611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206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G&amp;A / Legal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44622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IP protection, operations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20640" y="1645920"/>
            <a:ext cx="3749040" cy="3200400"/>
          </a:xfrm>
          <a:prstGeom prst="rect">
            <a:avLst/>
          </a:prstGeom>
          <a:solidFill>
            <a:srgbClr val="1A2F5E"/>
          </a:solidFill>
          <a:ln w="6350">
            <a:solidFill>
              <a:srgbClr val="3D5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Terms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22128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20840" y="22128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03520" y="2560320"/>
            <a:ext cx="3383280" cy="0"/>
          </a:xfrm>
          <a:prstGeom prst="line">
            <a:avLst/>
          </a:prstGeom>
          <a:noFill/>
          <a:ln w="3810">
            <a:solidFill>
              <a:srgbClr val="3D5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26243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20840" y="26243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 Crore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0" y="2971800"/>
            <a:ext cx="3383280" cy="0"/>
          </a:xfrm>
          <a:prstGeom prst="line">
            <a:avLst/>
          </a:prstGeom>
          <a:noFill/>
          <a:ln w="3810">
            <a:solidFill>
              <a:srgbClr val="3D5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30358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Pre-money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20840" y="30358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₹90 Crore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03520" y="3383280"/>
            <a:ext cx="3383280" cy="0"/>
          </a:xfrm>
          <a:prstGeom prst="line">
            <a:avLst/>
          </a:prstGeom>
          <a:noFill/>
          <a:ln w="3810">
            <a:solidFill>
              <a:srgbClr val="3D50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34472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20840" y="34472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03520" y="3794760"/>
            <a:ext cx="3383280" cy="0"/>
          </a:xfrm>
          <a:prstGeom prst="line">
            <a:avLst/>
          </a:prstGeom>
          <a:noFill/>
          <a:ln w="3810">
            <a:solidFill>
              <a:srgbClr val="3D50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0" y="38587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investor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720840" y="38587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303520" y="4206240"/>
            <a:ext cx="3383280" cy="0"/>
          </a:xfrm>
          <a:prstGeom prst="line">
            <a:avLst/>
          </a:prstGeom>
          <a:noFill/>
          <a:ln w="3810">
            <a:solidFill>
              <a:srgbClr val="3D50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0" y="42702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target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720840" y="42702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FY2026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dashandots@gmail.com  ·  India's solar revolution needs its operating system. Let's build it together.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2026-04-21T12:30:10Z</dcterms:created>
  <dcterms:modified xsi:type="dcterms:W3CDTF">2026-04-21T12:30:10Z</dcterms:modified>
</cp:coreProperties>
</file>