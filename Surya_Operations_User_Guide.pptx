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85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6172200" cy="10972800"/>
  <p:notesSz cx="10972800" cy="6172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52"/>
    <p:restoredTop sz="94610"/>
  </p:normalViewPr>
  <p:slideViewPr>
    <p:cSldViewPr snapToGrid="0" snapToObjects="1">
      <p:cViewPr>
        <p:scale>
          <a:sx n="100" d="100"/>
          <a:sy n="100" d="100"/>
        </p:scale>
        <p:origin x="15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93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37260" y="-1737360"/>
            <a:ext cx="8046720" cy="4023360"/>
          </a:xfrm>
          <a:prstGeom prst="ellipse">
            <a:avLst/>
          </a:prstGeom>
          <a:solidFill>
            <a:srgbClr val="F6A623">
              <a:alpha val="52000"/>
            </a:srgbClr>
          </a:solidFill>
          <a:ln w="12700">
            <a:solidFill>
              <a:srgbClr val="F6A62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" y="-1234440"/>
            <a:ext cx="6035040" cy="3017520"/>
          </a:xfrm>
          <a:prstGeom prst="ellipse">
            <a:avLst/>
          </a:prstGeom>
          <a:solidFill>
            <a:srgbClr val="F6A623">
              <a:alpha val="44000"/>
            </a:srgbClr>
          </a:solidFill>
          <a:ln w="12700">
            <a:solidFill>
              <a:srgbClr val="F6A62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" y="-731520"/>
            <a:ext cx="4023360" cy="2011680"/>
          </a:xfrm>
          <a:prstGeom prst="ellipse">
            <a:avLst/>
          </a:prstGeom>
          <a:solidFill>
            <a:srgbClr val="F6A623">
              <a:alpha val="36000"/>
            </a:srgbClr>
          </a:solidFill>
          <a:ln w="12700">
            <a:solidFill>
              <a:srgbClr val="F6A623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0260" y="-228600"/>
            <a:ext cx="2011680" cy="1005840"/>
          </a:xfrm>
          <a:prstGeom prst="ellipse">
            <a:avLst/>
          </a:prstGeom>
          <a:solidFill>
            <a:srgbClr val="F6A623">
              <a:alpha val="28000"/>
            </a:srgbClr>
          </a:solidFill>
          <a:ln w="12700">
            <a:solidFill>
              <a:srgbClr val="F6A623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46020" y="228600"/>
            <a:ext cx="1280160" cy="128016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46020" y="228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D1B2A"/>
                </a:solidFill>
              </a:rPr>
              <a:t>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F6A623"/>
                </a:solidFill>
              </a:rPr>
              <a:t>SURYA OPERATIONS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Solar Installation CRM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788920"/>
            <a:ext cx="3429000" cy="36576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</a:rPr>
              <a:t>The complete operations platform for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</a:rPr>
              <a:t>solar streetlight installers.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</a:rPr>
              <a:t>Projects, staff, inventory &amp; billing — in one place.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8620" y="45262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Projects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85900" y="45262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590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Staff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83180" y="45262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318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Inventory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80460" y="45262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046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Billing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77740" y="4526280"/>
            <a:ext cx="1005840" cy="274320"/>
          </a:xfrm>
          <a:prstGeom prst="roundRect">
            <a:avLst>
              <a:gd name="adj" fmla="val 3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774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Reports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4983480"/>
            <a:ext cx="5623560" cy="384048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23" name="Image 0" descr="/tmp/surya_pptx/screens/02_dashboa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029200"/>
            <a:ext cx="5532120" cy="3749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74320" y="896112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Swipe to explore all features →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SURYA OPERATIONS  ·  1 / 14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12692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9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2 / 14</a:t>
            </a:r>
            <a:endParaRPr lang="en-US" sz="1000" dirty="0"/>
          </a:p>
        </p:txBody>
      </p:sp>
      <p:sp>
        <p:nvSpPr>
          <p:cNvPr id="100" name="HeaderBg"/>
          <p:cNvSpPr>
            <a:spLocks noGrp="1"/>
          </p:cNvSpPr>
          <p:nvPr/>
        </p:nvSpPr>
        <p:spPr>
          <a:xfrm>
            <a:off x="0" y="0"/>
            <a:ext cx="6172200" cy="825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1000" dirty="0"/>
          </a:p>
        </p:txBody>
      </p:sp>
      <p:sp>
        <p:nvSpPr>
          <p:cNvPr id="101" name="Title"/>
          <p:cNvSpPr>
            <a:spLocks noGrp="1"/>
          </p:cNvSpPr>
          <p:nvPr/>
        </p:nvSpPr>
        <p:spPr>
          <a:xfrm>
            <a:off x="228600" y="101600"/>
            <a:ext cx="5626100" cy="406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Solar Companies Need a Dedicated CRM</a:t>
            </a:r>
          </a:p>
        </p:txBody>
      </p:sp>
      <p:sp>
        <p:nvSpPr>
          <p:cNvPr id="102" name="Subtitle"/>
          <p:cNvSpPr>
            <a:spLocks noGrp="1"/>
          </p:cNvSpPr>
          <p:nvPr/>
        </p:nvSpPr>
        <p:spPr>
          <a:xfrm>
            <a:off x="228600" y="508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00" dirty="0">
                <a:solidFill>
                  <a:srgbClr val="F6A623"/>
                </a:solidFill>
              </a:rPr>
              <a:t>The problem with generic tools</a:t>
            </a:r>
          </a:p>
        </p:txBody>
      </p:sp>
      <p:sp>
        <p:nvSpPr>
          <p:cNvPr id="110" name="ProbHeader"/>
          <p:cNvSpPr>
            <a:spLocks noGrp="1"/>
          </p:cNvSpPr>
          <p:nvPr/>
        </p:nvSpPr>
        <p:spPr>
          <a:xfrm>
            <a:off x="228600" y="914400"/>
            <a:ext cx="2527300" cy="35560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GENERIC CRMs</a:t>
            </a:r>
          </a:p>
        </p:txBody>
      </p:sp>
      <p:sp>
        <p:nvSpPr>
          <p:cNvPr id="111" name="SolHeader"/>
          <p:cNvSpPr>
            <a:spLocks noGrp="1"/>
          </p:cNvSpPr>
          <p:nvPr/>
        </p:nvSpPr>
        <p:spPr>
          <a:xfrm>
            <a:off x="3429000" y="914400"/>
            <a:ext cx="2527300" cy="355600"/>
          </a:xfrm>
          <a:prstGeom prst="roundRect">
            <a:avLst>
              <a:gd name="adj" fmla="val 16667"/>
            </a:avLst>
          </a:prstGeom>
          <a:solidFill>
            <a:srgbClr val="1A7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SURYA OPERATIONS</a:t>
            </a:r>
          </a:p>
        </p:txBody>
      </p:sp>
      <p:sp>
        <p:nvSpPr>
          <p:cNvPr id="112" name="VSBadge"/>
          <p:cNvSpPr>
            <a:spLocks noGrp="1"/>
          </p:cNvSpPr>
          <p:nvPr/>
        </p:nvSpPr>
        <p:spPr>
          <a:xfrm>
            <a:off x="2863850" y="914400"/>
            <a:ext cx="457200" cy="355600"/>
          </a:xfrm>
          <a:prstGeom prst="roundRect">
            <a:avLst>
              <a:gd name="adj" fmla="val 20000"/>
            </a:avLst>
          </a:prstGeom>
          <a:solidFill>
            <a:srgbClr val="F6A62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VS</a:t>
            </a:r>
          </a:p>
        </p:txBody>
      </p:sp>
      <p:sp>
        <p:nvSpPr>
          <p:cNvPr id="200" name="ProbCard0"/>
          <p:cNvSpPr>
            <a:spLocks noGrp="1"/>
          </p:cNvSpPr>
          <p:nvPr/>
        </p:nvSpPr>
        <p:spPr>
          <a:xfrm>
            <a:off x="228600" y="13716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1C0A0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01" name="ProbBar0"/>
          <p:cNvSpPr>
            <a:spLocks noGrp="1"/>
          </p:cNvSpPr>
          <p:nvPr/>
        </p:nvSpPr>
        <p:spPr>
          <a:xfrm>
            <a:off x="228600" y="1371600"/>
            <a:ext cx="50800" cy="127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02" name="ProbIcon0"/>
          <p:cNvSpPr>
            <a:spLocks noGrp="1"/>
          </p:cNvSpPr>
          <p:nvPr/>
        </p:nvSpPr>
        <p:spPr>
          <a:xfrm>
            <a:off x="355600" y="18288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03" name="ProbText0"/>
          <p:cNvSpPr>
            <a:spLocks noGrp="1"/>
          </p:cNvSpPr>
          <p:nvPr/>
        </p:nvSpPr>
        <p:spPr>
          <a:xfrm>
            <a:off x="787400" y="1473200"/>
            <a:ext cx="1892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dirty="0">
                <a:solidFill>
                  <a:srgbClr val="FFCDD2"/>
                </a:solidFill>
              </a:rPr>
              <a:t>No pole-level tracking</a:t>
            </a:r>
          </a:p>
        </p:txBody>
      </p:sp>
      <p:sp>
        <p:nvSpPr>
          <p:cNvPr id="204" name="Arrow0"/>
          <p:cNvSpPr>
            <a:spLocks noGrp="1"/>
          </p:cNvSpPr>
          <p:nvPr/>
        </p:nvSpPr>
        <p:spPr>
          <a:xfrm>
            <a:off x="2819400" y="2006600"/>
            <a:ext cx="558800" cy="12700"/>
          </a:xfrm>
          <a:prstGeom prst="line">
            <a:avLst/>
          </a:prstGeom>
          <a:noFill/>
          <a:ln w="19050">
            <a:solidFill>
              <a:srgbClr val="F6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ArrowHead0"/>
          <p:cNvSpPr>
            <a:spLocks noGrp="1"/>
          </p:cNvSpPr>
          <p:nvPr/>
        </p:nvSpPr>
        <p:spPr>
          <a:xfrm>
            <a:off x="3302000" y="1917700"/>
            <a:ext cx="127000" cy="177800"/>
          </a:xfrm>
          <a:prstGeom prst="roundRect">
            <a:avLst>
              <a:gd name="adj" fmla="val 16667"/>
            </a:avLst>
          </a:prstGeom>
          <a:solidFill>
            <a:srgbClr val="F6A62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206" name="SolCard0"/>
          <p:cNvSpPr>
            <a:spLocks noGrp="1"/>
          </p:cNvSpPr>
          <p:nvPr/>
        </p:nvSpPr>
        <p:spPr>
          <a:xfrm>
            <a:off x="3429000" y="13716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091A1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07" name="SolBar0"/>
          <p:cNvSpPr>
            <a:spLocks noGrp="1"/>
          </p:cNvSpPr>
          <p:nvPr/>
        </p:nvSpPr>
        <p:spPr>
          <a:xfrm>
            <a:off x="5905500" y="1371600"/>
            <a:ext cx="50800" cy="127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08" name="SolIcon0"/>
          <p:cNvSpPr>
            <a:spLocks noGrp="1"/>
          </p:cNvSpPr>
          <p:nvPr/>
        </p:nvSpPr>
        <p:spPr>
          <a:xfrm>
            <a:off x="3517900" y="18288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9" name="SolText0"/>
          <p:cNvSpPr>
            <a:spLocks noGrp="1"/>
          </p:cNvSpPr>
          <p:nvPr/>
        </p:nvSpPr>
        <p:spPr>
          <a:xfrm>
            <a:off x="3962400" y="1447800"/>
            <a:ext cx="18923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b="1" dirty="0">
                <a:solidFill>
                  <a:srgbClr val="F6A623"/>
                </a:solidFill>
              </a:rPr>
              <a:t>Solar-specific</a:t>
            </a:r>
          </a:p>
          <a:p>
            <a:pPr algn="l">
              <a:buNone/>
            </a:pPr>
            <a:r>
              <a:rPr lang="en-US" sz="950" dirty="0">
                <a:solidFill>
                  <a:srgbClr val="C8E6C9"/>
                </a:solidFill>
              </a:rPr>
              <a:t>Built exclusively for solar streetlight installation</a:t>
            </a:r>
          </a:p>
        </p:txBody>
      </p:sp>
      <p:sp>
        <p:nvSpPr>
          <p:cNvPr id="210" name="ProbCard1"/>
          <p:cNvSpPr>
            <a:spLocks noGrp="1"/>
          </p:cNvSpPr>
          <p:nvPr/>
        </p:nvSpPr>
        <p:spPr>
          <a:xfrm>
            <a:off x="228600" y="27432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1C0A0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11" name="ProbBar1"/>
          <p:cNvSpPr>
            <a:spLocks noGrp="1"/>
          </p:cNvSpPr>
          <p:nvPr/>
        </p:nvSpPr>
        <p:spPr>
          <a:xfrm>
            <a:off x="228600" y="2743200"/>
            <a:ext cx="50800" cy="127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12" name="ProbIcon1"/>
          <p:cNvSpPr>
            <a:spLocks noGrp="1"/>
          </p:cNvSpPr>
          <p:nvPr/>
        </p:nvSpPr>
        <p:spPr>
          <a:xfrm>
            <a:off x="355600" y="32004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13" name="ProbText1"/>
          <p:cNvSpPr>
            <a:spLocks noGrp="1"/>
          </p:cNvSpPr>
          <p:nvPr/>
        </p:nvSpPr>
        <p:spPr>
          <a:xfrm>
            <a:off x="787400" y="2844800"/>
            <a:ext cx="1892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dirty="0">
                <a:solidFill>
                  <a:srgbClr val="FFCDD2"/>
                </a:solidFill>
              </a:rPr>
              <a:t>No geo hierarchy support</a:t>
            </a:r>
          </a:p>
        </p:txBody>
      </p:sp>
      <p:sp>
        <p:nvSpPr>
          <p:cNvPr id="214" name="Arrow1"/>
          <p:cNvSpPr>
            <a:spLocks noGrp="1"/>
          </p:cNvSpPr>
          <p:nvPr/>
        </p:nvSpPr>
        <p:spPr>
          <a:xfrm>
            <a:off x="2819400" y="3378200"/>
            <a:ext cx="558800" cy="12700"/>
          </a:xfrm>
          <a:prstGeom prst="line">
            <a:avLst/>
          </a:prstGeom>
          <a:noFill/>
          <a:ln w="19050">
            <a:solidFill>
              <a:srgbClr val="F6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ArrowHead1"/>
          <p:cNvSpPr>
            <a:spLocks noGrp="1"/>
          </p:cNvSpPr>
          <p:nvPr/>
        </p:nvSpPr>
        <p:spPr>
          <a:xfrm>
            <a:off x="3302000" y="3289300"/>
            <a:ext cx="127000" cy="177800"/>
          </a:xfrm>
          <a:prstGeom prst="roundRect">
            <a:avLst>
              <a:gd name="adj" fmla="val 16667"/>
            </a:avLst>
          </a:prstGeom>
          <a:solidFill>
            <a:srgbClr val="F6A62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216" name="SolCard1"/>
          <p:cNvSpPr>
            <a:spLocks noGrp="1"/>
          </p:cNvSpPr>
          <p:nvPr/>
        </p:nvSpPr>
        <p:spPr>
          <a:xfrm>
            <a:off x="3429000" y="27432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091A1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17" name="SolBar1"/>
          <p:cNvSpPr>
            <a:spLocks noGrp="1"/>
          </p:cNvSpPr>
          <p:nvPr/>
        </p:nvSpPr>
        <p:spPr>
          <a:xfrm>
            <a:off x="5905500" y="2743200"/>
            <a:ext cx="50800" cy="127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18" name="SolIcon1"/>
          <p:cNvSpPr>
            <a:spLocks noGrp="1"/>
          </p:cNvSpPr>
          <p:nvPr/>
        </p:nvSpPr>
        <p:spPr>
          <a:xfrm>
            <a:off x="3517900" y="32004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9" name="SolText1"/>
          <p:cNvSpPr>
            <a:spLocks noGrp="1"/>
          </p:cNvSpPr>
          <p:nvPr/>
        </p:nvSpPr>
        <p:spPr>
          <a:xfrm>
            <a:off x="3962400" y="2819400"/>
            <a:ext cx="18923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b="1" dirty="0">
                <a:solidFill>
                  <a:srgbClr val="F6A623"/>
                </a:solidFill>
              </a:rPr>
              <a:t>Geo-hierarchy</a:t>
            </a:r>
          </a:p>
          <a:p>
            <a:pPr algn="l">
              <a:buNone/>
            </a:pPr>
            <a:r>
              <a:rPr lang="en-US" sz="950" dirty="0">
                <a:solidFill>
                  <a:srgbClr val="C8E6C9"/>
                </a:solidFill>
              </a:rPr>
              <a:t>District → Block → Panchayat → Ward → Pole</a:t>
            </a:r>
          </a:p>
        </p:txBody>
      </p:sp>
      <p:sp>
        <p:nvSpPr>
          <p:cNvPr id="220" name="ProbCard2"/>
          <p:cNvSpPr>
            <a:spLocks noGrp="1"/>
          </p:cNvSpPr>
          <p:nvPr/>
        </p:nvSpPr>
        <p:spPr>
          <a:xfrm>
            <a:off x="228600" y="41148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1C0A0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21" name="ProbBar2"/>
          <p:cNvSpPr>
            <a:spLocks noGrp="1"/>
          </p:cNvSpPr>
          <p:nvPr/>
        </p:nvSpPr>
        <p:spPr>
          <a:xfrm>
            <a:off x="228600" y="4114800"/>
            <a:ext cx="50800" cy="127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22" name="ProbIcon2"/>
          <p:cNvSpPr>
            <a:spLocks noGrp="1"/>
          </p:cNvSpPr>
          <p:nvPr/>
        </p:nvSpPr>
        <p:spPr>
          <a:xfrm>
            <a:off x="355600" y="45720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23" name="ProbText2"/>
          <p:cNvSpPr>
            <a:spLocks noGrp="1"/>
          </p:cNvSpPr>
          <p:nvPr/>
        </p:nvSpPr>
        <p:spPr>
          <a:xfrm>
            <a:off x="787400" y="4216400"/>
            <a:ext cx="1892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dirty="0">
                <a:solidFill>
                  <a:srgbClr val="FFCDD2"/>
                </a:solidFill>
              </a:rPr>
              <a:t>No inventory serial / QR</a:t>
            </a:r>
          </a:p>
        </p:txBody>
      </p:sp>
      <p:sp>
        <p:nvSpPr>
          <p:cNvPr id="224" name="Arrow2"/>
          <p:cNvSpPr>
            <a:spLocks noGrp="1"/>
          </p:cNvSpPr>
          <p:nvPr/>
        </p:nvSpPr>
        <p:spPr>
          <a:xfrm>
            <a:off x="2819400" y="4749800"/>
            <a:ext cx="558800" cy="12700"/>
          </a:xfrm>
          <a:prstGeom prst="line">
            <a:avLst/>
          </a:prstGeom>
          <a:noFill/>
          <a:ln w="19050">
            <a:solidFill>
              <a:srgbClr val="F6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5" name="ArrowHead2"/>
          <p:cNvSpPr>
            <a:spLocks noGrp="1"/>
          </p:cNvSpPr>
          <p:nvPr/>
        </p:nvSpPr>
        <p:spPr>
          <a:xfrm>
            <a:off x="3302000" y="4660900"/>
            <a:ext cx="127000" cy="177800"/>
          </a:xfrm>
          <a:prstGeom prst="roundRect">
            <a:avLst>
              <a:gd name="adj" fmla="val 16667"/>
            </a:avLst>
          </a:prstGeom>
          <a:solidFill>
            <a:srgbClr val="F6A62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226" name="SolCard2"/>
          <p:cNvSpPr>
            <a:spLocks noGrp="1"/>
          </p:cNvSpPr>
          <p:nvPr/>
        </p:nvSpPr>
        <p:spPr>
          <a:xfrm>
            <a:off x="3429000" y="41148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091A1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27" name="SolBar2"/>
          <p:cNvSpPr>
            <a:spLocks noGrp="1"/>
          </p:cNvSpPr>
          <p:nvPr/>
        </p:nvSpPr>
        <p:spPr>
          <a:xfrm>
            <a:off x="5905500" y="4114800"/>
            <a:ext cx="50800" cy="127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28" name="SolIcon2"/>
          <p:cNvSpPr>
            <a:spLocks noGrp="1"/>
          </p:cNvSpPr>
          <p:nvPr/>
        </p:nvSpPr>
        <p:spPr>
          <a:xfrm>
            <a:off x="3517900" y="45720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9" name="SolText2"/>
          <p:cNvSpPr>
            <a:spLocks noGrp="1"/>
          </p:cNvSpPr>
          <p:nvPr/>
        </p:nvSpPr>
        <p:spPr>
          <a:xfrm>
            <a:off x="3962400" y="4191000"/>
            <a:ext cx="18923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b="1" dirty="0">
                <a:solidFill>
                  <a:srgbClr val="F6A623"/>
                </a:solidFill>
              </a:rPr>
              <a:t>Smart Inventory</a:t>
            </a:r>
          </a:p>
          <a:p>
            <a:pPr algn="l">
              <a:buNone/>
            </a:pPr>
            <a:r>
              <a:rPr lang="en-US" sz="950" dirty="0">
                <a:solidFill>
                  <a:srgbClr val="C8E6C9"/>
                </a:solidFill>
              </a:rPr>
              <a:t>QR dispatch, serial tracking, bulk import/export</a:t>
            </a:r>
          </a:p>
        </p:txBody>
      </p:sp>
      <p:sp>
        <p:nvSpPr>
          <p:cNvPr id="230" name="ProbCard3"/>
          <p:cNvSpPr>
            <a:spLocks noGrp="1"/>
          </p:cNvSpPr>
          <p:nvPr/>
        </p:nvSpPr>
        <p:spPr>
          <a:xfrm>
            <a:off x="228600" y="54864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1C0A0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31" name="ProbBar3"/>
          <p:cNvSpPr>
            <a:spLocks noGrp="1"/>
          </p:cNvSpPr>
          <p:nvPr/>
        </p:nvSpPr>
        <p:spPr>
          <a:xfrm>
            <a:off x="228600" y="5486400"/>
            <a:ext cx="50800" cy="127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32" name="ProbIcon3"/>
          <p:cNvSpPr>
            <a:spLocks noGrp="1"/>
          </p:cNvSpPr>
          <p:nvPr/>
        </p:nvSpPr>
        <p:spPr>
          <a:xfrm>
            <a:off x="355600" y="59436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33" name="ProbText3"/>
          <p:cNvSpPr>
            <a:spLocks noGrp="1"/>
          </p:cNvSpPr>
          <p:nvPr/>
        </p:nvSpPr>
        <p:spPr>
          <a:xfrm>
            <a:off x="787400" y="5588000"/>
            <a:ext cx="1892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dirty="0">
                <a:solidFill>
                  <a:srgbClr val="FFCDD2"/>
                </a:solidFill>
              </a:rPr>
              <a:t>No engineer dashboards</a:t>
            </a:r>
          </a:p>
        </p:txBody>
      </p:sp>
      <p:sp>
        <p:nvSpPr>
          <p:cNvPr id="234" name="Arrow3"/>
          <p:cNvSpPr>
            <a:spLocks noGrp="1"/>
          </p:cNvSpPr>
          <p:nvPr/>
        </p:nvSpPr>
        <p:spPr>
          <a:xfrm>
            <a:off x="2819400" y="6121400"/>
            <a:ext cx="558800" cy="12700"/>
          </a:xfrm>
          <a:prstGeom prst="line">
            <a:avLst/>
          </a:prstGeom>
          <a:noFill/>
          <a:ln w="19050">
            <a:solidFill>
              <a:srgbClr val="F6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5" name="ArrowHead3"/>
          <p:cNvSpPr>
            <a:spLocks noGrp="1"/>
          </p:cNvSpPr>
          <p:nvPr/>
        </p:nvSpPr>
        <p:spPr>
          <a:xfrm>
            <a:off x="3302000" y="6032500"/>
            <a:ext cx="127000" cy="177800"/>
          </a:xfrm>
          <a:prstGeom prst="roundRect">
            <a:avLst>
              <a:gd name="adj" fmla="val 16667"/>
            </a:avLst>
          </a:prstGeom>
          <a:solidFill>
            <a:srgbClr val="F6A62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236" name="SolCard3"/>
          <p:cNvSpPr>
            <a:spLocks noGrp="1"/>
          </p:cNvSpPr>
          <p:nvPr/>
        </p:nvSpPr>
        <p:spPr>
          <a:xfrm>
            <a:off x="3429000" y="54864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091A1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37" name="SolBar3"/>
          <p:cNvSpPr>
            <a:spLocks noGrp="1"/>
          </p:cNvSpPr>
          <p:nvPr/>
        </p:nvSpPr>
        <p:spPr>
          <a:xfrm>
            <a:off x="5905500" y="5486400"/>
            <a:ext cx="50800" cy="127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38" name="SolIcon3"/>
          <p:cNvSpPr>
            <a:spLocks noGrp="1"/>
          </p:cNvSpPr>
          <p:nvPr/>
        </p:nvSpPr>
        <p:spPr>
          <a:xfrm>
            <a:off x="3517900" y="59436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9" name="SolText3"/>
          <p:cNvSpPr>
            <a:spLocks noGrp="1"/>
          </p:cNvSpPr>
          <p:nvPr/>
        </p:nvSpPr>
        <p:spPr>
          <a:xfrm>
            <a:off x="3962400" y="5562600"/>
            <a:ext cx="18923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b="1" dirty="0">
                <a:solidFill>
                  <a:srgbClr val="F6A623"/>
                </a:solidFill>
              </a:rPr>
              <a:t>Team Performance</a:t>
            </a:r>
          </a:p>
          <a:p>
            <a:pPr algn="l">
              <a:buNone/>
            </a:pPr>
            <a:r>
              <a:rPr lang="en-US" sz="950" dirty="0">
                <a:solidFill>
                  <a:srgbClr val="C8E6C9"/>
                </a:solidFill>
              </a:rPr>
              <a:t>Real-time leaderboards, progress analytics</a:t>
            </a:r>
          </a:p>
        </p:txBody>
      </p:sp>
      <p:sp>
        <p:nvSpPr>
          <p:cNvPr id="240" name="ProbCard4"/>
          <p:cNvSpPr>
            <a:spLocks noGrp="1"/>
          </p:cNvSpPr>
          <p:nvPr/>
        </p:nvSpPr>
        <p:spPr>
          <a:xfrm>
            <a:off x="228600" y="68580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1C0A0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41" name="ProbBar4"/>
          <p:cNvSpPr>
            <a:spLocks noGrp="1"/>
          </p:cNvSpPr>
          <p:nvPr/>
        </p:nvSpPr>
        <p:spPr>
          <a:xfrm>
            <a:off x="228600" y="6858000"/>
            <a:ext cx="50800" cy="127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42" name="ProbIcon4"/>
          <p:cNvSpPr>
            <a:spLocks noGrp="1"/>
          </p:cNvSpPr>
          <p:nvPr/>
        </p:nvSpPr>
        <p:spPr>
          <a:xfrm>
            <a:off x="355600" y="73152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43" name="ProbText4"/>
          <p:cNvSpPr>
            <a:spLocks noGrp="1"/>
          </p:cNvSpPr>
          <p:nvPr/>
        </p:nvSpPr>
        <p:spPr>
          <a:xfrm>
            <a:off x="787400" y="6959600"/>
            <a:ext cx="1892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dirty="0">
                <a:solidFill>
                  <a:srgbClr val="FFCDD2"/>
                </a:solidFill>
              </a:rPr>
              <a:t>No TA / DA billing</a:t>
            </a:r>
          </a:p>
        </p:txBody>
      </p:sp>
      <p:sp>
        <p:nvSpPr>
          <p:cNvPr id="244" name="Arrow4"/>
          <p:cNvSpPr>
            <a:spLocks noGrp="1"/>
          </p:cNvSpPr>
          <p:nvPr/>
        </p:nvSpPr>
        <p:spPr>
          <a:xfrm>
            <a:off x="2819400" y="7493000"/>
            <a:ext cx="558800" cy="12700"/>
          </a:xfrm>
          <a:prstGeom prst="line">
            <a:avLst/>
          </a:prstGeom>
          <a:noFill/>
          <a:ln w="19050">
            <a:solidFill>
              <a:srgbClr val="F6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5" name="ArrowHead4"/>
          <p:cNvSpPr>
            <a:spLocks noGrp="1"/>
          </p:cNvSpPr>
          <p:nvPr/>
        </p:nvSpPr>
        <p:spPr>
          <a:xfrm>
            <a:off x="3302000" y="7404100"/>
            <a:ext cx="127000" cy="177800"/>
          </a:xfrm>
          <a:prstGeom prst="roundRect">
            <a:avLst>
              <a:gd name="adj" fmla="val 16667"/>
            </a:avLst>
          </a:prstGeom>
          <a:solidFill>
            <a:srgbClr val="F6A62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246" name="SolCard4"/>
          <p:cNvSpPr>
            <a:spLocks noGrp="1"/>
          </p:cNvSpPr>
          <p:nvPr/>
        </p:nvSpPr>
        <p:spPr>
          <a:xfrm>
            <a:off x="3429000" y="68580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091A1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47" name="SolBar4"/>
          <p:cNvSpPr>
            <a:spLocks noGrp="1"/>
          </p:cNvSpPr>
          <p:nvPr/>
        </p:nvSpPr>
        <p:spPr>
          <a:xfrm>
            <a:off x="5905500" y="6858000"/>
            <a:ext cx="50800" cy="127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48" name="SolIcon4"/>
          <p:cNvSpPr>
            <a:spLocks noGrp="1"/>
          </p:cNvSpPr>
          <p:nvPr/>
        </p:nvSpPr>
        <p:spPr>
          <a:xfrm>
            <a:off x="3517900" y="73152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9" name="SolText4"/>
          <p:cNvSpPr>
            <a:spLocks noGrp="1"/>
          </p:cNvSpPr>
          <p:nvPr/>
        </p:nvSpPr>
        <p:spPr>
          <a:xfrm>
            <a:off x="3962400" y="6934200"/>
            <a:ext cx="18923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b="1" dirty="0">
                <a:solidFill>
                  <a:srgbClr val="F6A623"/>
                </a:solidFill>
              </a:rPr>
              <a:t>Billing Built-in</a:t>
            </a:r>
          </a:p>
          <a:p>
            <a:pPr algn="l">
              <a:buNone/>
            </a:pPr>
            <a:r>
              <a:rPr lang="en-US" sz="950" dirty="0">
                <a:solidFill>
                  <a:srgbClr val="C8E6C9"/>
                </a:solidFill>
              </a:rPr>
              <a:t>TA/DA, conveyance claims with approval workflows</a:t>
            </a:r>
          </a:p>
        </p:txBody>
      </p:sp>
      <p:sp>
        <p:nvSpPr>
          <p:cNvPr id="250" name="ProbCard5"/>
          <p:cNvSpPr>
            <a:spLocks noGrp="1"/>
          </p:cNvSpPr>
          <p:nvPr/>
        </p:nvSpPr>
        <p:spPr>
          <a:xfrm>
            <a:off x="228600" y="82296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1C0A0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51" name="ProbBar5"/>
          <p:cNvSpPr>
            <a:spLocks noGrp="1"/>
          </p:cNvSpPr>
          <p:nvPr/>
        </p:nvSpPr>
        <p:spPr>
          <a:xfrm>
            <a:off x="228600" y="8229600"/>
            <a:ext cx="50800" cy="1270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52" name="ProbIcon5"/>
          <p:cNvSpPr>
            <a:spLocks noGrp="1"/>
          </p:cNvSpPr>
          <p:nvPr/>
        </p:nvSpPr>
        <p:spPr>
          <a:xfrm>
            <a:off x="355600" y="86868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53" name="ProbText5"/>
          <p:cNvSpPr>
            <a:spLocks noGrp="1"/>
          </p:cNvSpPr>
          <p:nvPr/>
        </p:nvSpPr>
        <p:spPr>
          <a:xfrm>
            <a:off x="787400" y="8331200"/>
            <a:ext cx="18923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dirty="0">
                <a:solidFill>
                  <a:srgbClr val="FFCDD2"/>
                </a:solidFill>
              </a:rPr>
              <a:t>No JICR report generation</a:t>
            </a:r>
          </a:p>
        </p:txBody>
      </p:sp>
      <p:sp>
        <p:nvSpPr>
          <p:cNvPr id="254" name="Arrow5"/>
          <p:cNvSpPr>
            <a:spLocks noGrp="1"/>
          </p:cNvSpPr>
          <p:nvPr/>
        </p:nvSpPr>
        <p:spPr>
          <a:xfrm>
            <a:off x="2819400" y="8864600"/>
            <a:ext cx="558800" cy="12700"/>
          </a:xfrm>
          <a:prstGeom prst="line">
            <a:avLst/>
          </a:prstGeom>
          <a:noFill/>
          <a:ln w="19050">
            <a:solidFill>
              <a:srgbClr val="F6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5" name="ArrowHead5"/>
          <p:cNvSpPr>
            <a:spLocks noGrp="1"/>
          </p:cNvSpPr>
          <p:nvPr/>
        </p:nvSpPr>
        <p:spPr>
          <a:xfrm>
            <a:off x="3302000" y="8775700"/>
            <a:ext cx="127000" cy="177800"/>
          </a:xfrm>
          <a:prstGeom prst="roundRect">
            <a:avLst>
              <a:gd name="adj" fmla="val 16667"/>
            </a:avLst>
          </a:prstGeom>
          <a:solidFill>
            <a:srgbClr val="F6A62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dirty="0"/>
          </a:p>
        </p:txBody>
      </p:sp>
      <p:sp>
        <p:nvSpPr>
          <p:cNvPr id="256" name="SolCard5"/>
          <p:cNvSpPr>
            <a:spLocks noGrp="1"/>
          </p:cNvSpPr>
          <p:nvPr/>
        </p:nvSpPr>
        <p:spPr>
          <a:xfrm>
            <a:off x="3429000" y="8229600"/>
            <a:ext cx="2527300" cy="1270000"/>
          </a:xfrm>
          <a:prstGeom prst="roundRect">
            <a:avLst>
              <a:gd name="adj" fmla="val 16667"/>
            </a:avLst>
          </a:prstGeom>
          <a:solidFill>
            <a:srgbClr val="091A1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57" name="SolBar5"/>
          <p:cNvSpPr>
            <a:spLocks noGrp="1"/>
          </p:cNvSpPr>
          <p:nvPr/>
        </p:nvSpPr>
        <p:spPr>
          <a:xfrm>
            <a:off x="5905500" y="8229600"/>
            <a:ext cx="50800" cy="127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 sz="900" dirty="0"/>
          </a:p>
        </p:txBody>
      </p:sp>
      <p:sp>
        <p:nvSpPr>
          <p:cNvPr id="258" name="SolIcon5"/>
          <p:cNvSpPr>
            <a:spLocks noGrp="1"/>
          </p:cNvSpPr>
          <p:nvPr/>
        </p:nvSpPr>
        <p:spPr>
          <a:xfrm>
            <a:off x="3517900" y="8686800"/>
            <a:ext cx="355600" cy="3556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9" name="SolText5"/>
          <p:cNvSpPr>
            <a:spLocks noGrp="1"/>
          </p:cNvSpPr>
          <p:nvPr/>
        </p:nvSpPr>
        <p:spPr>
          <a:xfrm>
            <a:off x="3962400" y="8305800"/>
            <a:ext cx="18923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050" b="1" dirty="0">
                <a:solidFill>
                  <a:srgbClr val="F6A623"/>
                </a:solidFill>
              </a:rPr>
              <a:t>Gov. Reports</a:t>
            </a:r>
          </a:p>
          <a:p>
            <a:pPr algn="l">
              <a:buNone/>
            </a:pPr>
            <a:r>
              <a:rPr lang="en-US" sz="950" dirty="0">
                <a:solidFill>
                  <a:srgbClr val="C8E6C9"/>
                </a:solidFill>
              </a:rPr>
              <a:t>JICR &amp; government report generation built-in</a:t>
            </a:r>
          </a:p>
        </p:txBody>
      </p:sp>
    </p:spTree>
    <p:extLst>
      <p:ext uri="{BB962C8B-B14F-4D97-AF65-F5344CB8AC3E}">
        <p14:creationId xmlns:p14="http://schemas.microsoft.com/office/powerpoint/2010/main" val="1918856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Step 1 — Secure Login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Role-based access for your entire team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0624" y="1014984"/>
            <a:ext cx="5330952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1_logi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525780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624" y="4745736"/>
            <a:ext cx="533095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0624" y="4745736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Login Screen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4892040"/>
            <a:ext cx="5623560" cy="310896"/>
          </a:xfrm>
          <a:prstGeom prst="rect">
            <a:avLst/>
          </a:prstGeom>
          <a:solidFill>
            <a:srgbClr val="1A2A3A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9204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➊ Company-branded login form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5257800"/>
            <a:ext cx="5623560" cy="310896"/>
          </a:xfrm>
          <a:prstGeom prst="rect">
            <a:avLst/>
          </a:prstGeom>
          <a:solidFill>
            <a:srgbClr val="1A2A3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5257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➋ Role-based access control (Admin, PM, Engineer)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5623560"/>
            <a:ext cx="5623560" cy="310896"/>
          </a:xfrm>
          <a:prstGeom prst="rect">
            <a:avLst/>
          </a:prstGeom>
          <a:solidFill>
            <a:srgbClr val="1A2A3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562356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➌ 'Keep me signed in' — secure session management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6080760"/>
            <a:ext cx="5623560" cy="36576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621792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How to Log 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6400800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6400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" y="6400800"/>
            <a:ext cx="5276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Open the Surya Operations URL in your browser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6912864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6912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" y="6912864"/>
            <a:ext cx="5276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Enter your company email address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7424928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7424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1792" y="7424928"/>
            <a:ext cx="5276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Enter your password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7936992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7936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1792" y="7936992"/>
            <a:ext cx="5276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Tick 'Keep me signed in' for convenience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8449056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8449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1792" y="8449056"/>
            <a:ext cx="5276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Click SIGN IN to access your dashboard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3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355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Dashboard — Your Command Center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Real-time project performance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2_dashboar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515721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515721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Project Performance Dashboard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" y="5349240"/>
            <a:ext cx="5715000" cy="11887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5349240"/>
            <a:ext cx="64008" cy="11887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5422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📊 Performance Analytics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575157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District-wise breakdown of poles surveyed vs. installed per manager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" y="6675120"/>
            <a:ext cx="5715000" cy="11887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6675120"/>
            <a:ext cx="64008" cy="11887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6748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🔄 Live Project Filter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4048" y="707745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Switch between projects and date ranges instantly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" y="8001000"/>
            <a:ext cx="5715000" cy="11887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8001000"/>
            <a:ext cx="64008" cy="11887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8074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👤 Manager Cards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" y="84033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Each PM's total poles, surveyed %, installed %, overall progress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8600" y="9326880"/>
            <a:ext cx="5715000" cy="11887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28600" y="9326880"/>
            <a:ext cx="64008" cy="11887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9400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📥 Export Reports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84048" y="97292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One-click Print or Export to PDF/Excel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4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9222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Projects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Manage all your solar contracts in one place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3_projec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470001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470001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Projects List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How to Create a New Project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5166360"/>
            <a:ext cx="57150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" y="5166360"/>
            <a:ext cx="292608" cy="5943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5166360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51663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Click '+ Add New Project' (top right)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" y="5861304"/>
            <a:ext cx="57150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5861304"/>
            <a:ext cx="292608" cy="5943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5861304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586130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Enter Project Name and Work Order Number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" y="6556248"/>
            <a:ext cx="57150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6556248"/>
            <a:ext cx="292608" cy="5943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" y="6556248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4360" y="65562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Set Start Date, Order Value, and Project Type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7251192"/>
            <a:ext cx="57150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8600" y="7251192"/>
            <a:ext cx="292608" cy="5943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8600" y="7251192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" y="725119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Assign Project Managers and Site Engineers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" y="7946136"/>
            <a:ext cx="57150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8600" y="7946136"/>
            <a:ext cx="292608" cy="5943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8600" y="7946136"/>
            <a:ext cx="292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4360" y="794613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Import project sites via Excel template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87325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8732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Order No.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666494" y="87325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66494" y="8732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Type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058668" y="87325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58668" y="8732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 Value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450842" y="87325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50842" y="8732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Date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5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68143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Staff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Your entire field team at your fingertips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4151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4_staff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488289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488289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Staff Directory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50292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Staff Roles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5349240"/>
            <a:ext cx="278892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5349240"/>
            <a:ext cx="278892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5458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</a:rPr>
              <a:t>Admin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57515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Full system access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31820" y="5349240"/>
            <a:ext cx="278892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F6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31820" y="5349240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23260" y="5458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Project Manager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23260" y="57515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Manages team &amp; progress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28600" y="6263640"/>
            <a:ext cx="278892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6263640"/>
            <a:ext cx="278892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6373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</a:rPr>
              <a:t>Coordinator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0040" y="66659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Data entry &amp; scheduling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131820" y="6263640"/>
            <a:ext cx="278892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131820" y="6263640"/>
            <a:ext cx="278892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23260" y="6373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Site Engineer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223260" y="66659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Field installation work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28600" y="7278624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</a:rPr>
              <a:t>Key Actions: Add Staff  ·  Import from Excel  ·  Filter by Role/Dept  ·  View Profile  ·  Bulk Delete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28600" y="7726680"/>
            <a:ext cx="1859280" cy="10789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8600" y="7818120"/>
            <a:ext cx="185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623"/>
                </a:solidFill>
              </a:rPr>
              <a:t>Field Engineers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8600" y="8138160"/>
            <a:ext cx="185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Geo-tagged to districts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170176" y="7726680"/>
            <a:ext cx="1859280" cy="10789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70176" y="7818120"/>
            <a:ext cx="185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623"/>
                </a:solidFill>
              </a:rPr>
              <a:t>Bulk Import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170176" y="8138160"/>
            <a:ext cx="185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Excel template upload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111752" y="7726680"/>
            <a:ext cx="1859280" cy="10789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1752" y="7818120"/>
            <a:ext cx="185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A623"/>
                </a:solidFill>
              </a:rPr>
              <a:t>OTP Mobile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111752" y="8138160"/>
            <a:ext cx="185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Verified contact updates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6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866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Vendor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Track all your installation contractors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5_vendor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470001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470001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Vendor Directory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82803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What You Can Do with Vendors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5166360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5166360"/>
            <a:ext cx="64008" cy="9144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5230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Add &amp; Profile Vendors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" y="55321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Store contact, address, assigned manager and district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" y="6190488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8600" y="6190488"/>
            <a:ext cx="64008" cy="9144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62544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Bulk Assign Projects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4048" y="655624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Assign multiple vendors to projects at once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" y="7214616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7214616"/>
            <a:ext cx="64008" cy="9144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7278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Filter by District/Manager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" y="758037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Find the right vendor for the right geography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8238744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28600" y="8238744"/>
            <a:ext cx="64008" cy="9144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8302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Import via Excel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84048" y="860450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Onboard hundreds of vendors in seconds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" y="9262872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28600" y="9262872"/>
            <a:ext cx="64008" cy="91440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9326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View Vendor Dashboard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84048" y="962863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See all assigned projects, tasks, and performance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7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4910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Inventory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Solar modules, poles, fixtures — all tracked by serial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7_inventor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470001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470001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Inventory Ledger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8463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Inventory Features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5166360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5166360"/>
            <a:ext cx="64008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5230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QR Dispatch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" y="55321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Scan &amp; dispatch items to field teams with QR codes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" y="6190488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8600" y="6190488"/>
            <a:ext cx="64008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62544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Serial Tracking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4048" y="655624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Every item tracked by unique serial number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28600" y="7214616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7214616"/>
            <a:ext cx="64008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7278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Bulk Import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" y="7580376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Upload thousands of inventory items via Excel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8238744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28600" y="8238744"/>
            <a:ext cx="64008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8302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Return Workflow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84048" y="8604504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Track returned &amp; replaced items with reasons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" y="9262872"/>
            <a:ext cx="571500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28600" y="9262872"/>
            <a:ext cx="64008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9326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Store-wise View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84048" y="962863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Each project site has its own inventory store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8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3189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Site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Every installation location, every pole — tracked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6_sit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451713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451713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Sites List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66344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Site Hierarchy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5029200"/>
            <a:ext cx="1106424" cy="822960"/>
          </a:xfrm>
          <a:prstGeom prst="rect">
            <a:avLst/>
          </a:prstGeom>
          <a:solidFill>
            <a:srgbClr val="1A2A3A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502920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📍 District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71600" y="5029200"/>
            <a:ext cx="146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408176" y="5029200"/>
            <a:ext cx="1106424" cy="822960"/>
          </a:xfrm>
          <a:prstGeom prst="rect">
            <a:avLst/>
          </a:prstGeom>
          <a:solidFill>
            <a:srgbClr val="1A2A3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08176" y="502920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7E22"/>
                </a:solidFill>
              </a:rPr>
              <a:t>🏘 Block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05456" y="5029200"/>
            <a:ext cx="146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42032" y="5029200"/>
            <a:ext cx="1106424" cy="822960"/>
          </a:xfrm>
          <a:prstGeom prst="rect">
            <a:avLst/>
          </a:prstGeom>
          <a:solidFill>
            <a:srgbClr val="1A2A3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42032" y="502920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🌾 Panchayat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39312" y="5029200"/>
            <a:ext cx="146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75888" y="5029200"/>
            <a:ext cx="1106424" cy="822960"/>
          </a:xfrm>
          <a:prstGeom prst="rect">
            <a:avLst/>
          </a:prstGeom>
          <a:solidFill>
            <a:srgbClr val="1A2A3A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75888" y="502920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980B9"/>
                </a:solidFill>
              </a:rPr>
              <a:t>🏠 Ward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773168" y="5029200"/>
            <a:ext cx="146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09744" y="5029200"/>
            <a:ext cx="1106424" cy="822960"/>
          </a:xfrm>
          <a:prstGeom prst="rect">
            <a:avLst/>
          </a:prstGeom>
          <a:solidFill>
            <a:srgbClr val="1A2A3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9744" y="5029200"/>
            <a:ext cx="110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44AD"/>
                </a:solidFill>
              </a:rPr>
              <a:t>💡 Pole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74320" y="59893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Site Actions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28600" y="6309360"/>
            <a:ext cx="57150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" y="6492240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8368" y="6309360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Import sites via GPS-tagged Excel template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28600" y="7022592"/>
            <a:ext cx="5715000" cy="621792"/>
          </a:xfrm>
          <a:prstGeom prst="rect">
            <a:avLst/>
          </a:prstGeom>
          <a:solidFill>
            <a:srgbClr val="16203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20040" y="7205472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7205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58368" y="7022592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Assign vendors and engineers per site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28600" y="7735824"/>
            <a:ext cx="57150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20040" y="7918704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0040" y="7918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✓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8368" y="7735824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Import poles for each site with survey/install status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28600" y="8449056"/>
            <a:ext cx="5715000" cy="621792"/>
          </a:xfrm>
          <a:prstGeom prst="rect">
            <a:avLst/>
          </a:prstGeom>
          <a:solidFill>
            <a:srgbClr val="16203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0040" y="8631936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8631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58368" y="8449056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Bulk delete or reassign poles across sites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28600" y="9162288"/>
            <a:ext cx="5715000" cy="62179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0040" y="9345168"/>
            <a:ext cx="256032" cy="256032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0040" y="9345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58368" y="9162288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Export pole data to Excel or PDF reports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9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27226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Billing — TA &amp; DA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Travel, allowance &amp; expense claim workflows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4151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8_bill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488289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488289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TA &amp; DA Claims Dashboard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5047488"/>
            <a:ext cx="138303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F6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5074920"/>
            <a:ext cx="13830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A623"/>
                </a:solidFill>
              </a:rPr>
              <a:t>₹94,458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5440680"/>
            <a:ext cx="1383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Total Expense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684782" y="5047488"/>
            <a:ext cx="138303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684782" y="5074920"/>
            <a:ext cx="13830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</a:rPr>
              <a:t>6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84782" y="5440680"/>
            <a:ext cx="1383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Pending Claims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095244" y="5047488"/>
            <a:ext cx="138303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095244" y="5074920"/>
            <a:ext cx="13830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95244" y="5440680"/>
            <a:ext cx="1383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Accepted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505706" y="5047488"/>
            <a:ext cx="138303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05706" y="5074920"/>
            <a:ext cx="13830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05706" y="5440680"/>
            <a:ext cx="13830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Rejected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74320" y="598932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How the Billing Workflow Works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6263640"/>
            <a:ext cx="5715000" cy="75895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" y="6501384"/>
            <a:ext cx="274320" cy="27432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6501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1792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Field Staff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1792" y="661111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Submits TA/DA claim with travel details &amp; amount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28600" y="7114032"/>
            <a:ext cx="5715000" cy="75895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56032" y="7351776"/>
            <a:ext cx="274320" cy="27432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6032" y="7351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1792" y="7159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System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1792" y="74615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Logs claim with date, visiting location, status: Pending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28600" y="7964424"/>
            <a:ext cx="5715000" cy="75895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6032" y="8202168"/>
            <a:ext cx="274320" cy="27432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6032" y="8202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21792" y="8010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Admin Review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" y="831189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Admin views claim details and verifies the submission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28600" y="8814816"/>
            <a:ext cx="5715000" cy="75895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56032" y="9052560"/>
            <a:ext cx="274320" cy="27432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56032" y="9052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21792" y="8860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Accept / Reject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1792" y="916228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Click Accept (green) or Reject (red) with reason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28600" y="9665208"/>
            <a:ext cx="5715000" cy="75895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" y="9902952"/>
            <a:ext cx="274320" cy="274320"/>
          </a:xfrm>
          <a:prstGeom prst="ellips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56032" y="9902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5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21792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Bulk Actions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21792" y="1001268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Process multiple claims at once for efficiency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10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53534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Performance Analytics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Track team productivity with real-time leaderboards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09_performan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515721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515721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Performance Overview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" y="5349240"/>
            <a:ext cx="5715000" cy="960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" y="53492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🥇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5440680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Top Performers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5769864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Podium view of top 3 project managers by completion 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" y="6419088"/>
            <a:ext cx="5715000" cy="960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6032" y="6419088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68680" y="6510528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Manager Breakdown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" y="6839712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Poles total, surveyed, installed &amp; backlog per PM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" y="7488936"/>
            <a:ext cx="5715000" cy="960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56032" y="7488936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8680" y="7580376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Team Drill-down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8680" y="7909560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Expand any PM to see their engineers &amp; vendor performance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8600" y="8558784"/>
            <a:ext cx="5715000" cy="960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56032" y="8558784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68680" y="865022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Time Filter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68680" y="8979408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Filter by Today, This Week, This Month, or custom range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28600" y="9628632"/>
            <a:ext cx="5715000" cy="9601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56032" y="9628632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68680" y="9720072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6A623"/>
                </a:solidFill>
              </a:rPr>
              <a:t>Export Report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68680" y="10049256"/>
            <a:ext cx="5001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Download performance data as Excel for management review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11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97257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Meetings &amp; Collaboration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Schedule, track, and document all team meetings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3785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10_meet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451713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451713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Meetings List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66344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Meeting Management Features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4992624"/>
            <a:ext cx="571500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4992624"/>
            <a:ext cx="64008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504748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Create Meetings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" y="532180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Set title, agenda, platform (Google Meet / Zoom / Other), date &amp; time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8600" y="5888736"/>
            <a:ext cx="571500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8600" y="5888736"/>
            <a:ext cx="64008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59436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Participant Management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4048" y="62179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Add &amp; remove attendees; track who attended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28600" y="6784848"/>
            <a:ext cx="571500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28600" y="6784848"/>
            <a:ext cx="64008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68397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Discussion Points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" y="7114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Capture action items with status tracking (open/closed)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28600" y="7680960"/>
            <a:ext cx="571500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28600" y="7680960"/>
            <a:ext cx="64008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" y="773582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Follow-up Scheduling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84048" y="80101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Auto-create follow-up meetings from existing ones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28600" y="8577072"/>
            <a:ext cx="571500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28600" y="8577072"/>
            <a:ext cx="64008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86319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Meeting Notes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84048" y="890625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Rich text notes saved per meeting with export to PDF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28600" y="9473184"/>
            <a:ext cx="5715000" cy="80467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28600" y="9473184"/>
            <a:ext cx="64008" cy="8046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9528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Status Tracking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84048" y="980236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Review, Planning, Action — track meeting outcomes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12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27261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8229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</a:rPr>
              <a:t>System Activity Logs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12064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600"/>
                </a:solidFill>
              </a:rPr>
              <a:t>Full audit trail — every action, every user, every 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" y="969264"/>
            <a:ext cx="5696712" cy="4151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" name="Image 0" descr="/tmp/surya_pptx/screens/11_activit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562356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" y="4882896"/>
            <a:ext cx="5696712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" y="4882896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Activity Log Feed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50292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6A623"/>
                </a:solidFill>
              </a:rPr>
              <a:t>What Gets Logged Automatically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5394960"/>
            <a:ext cx="5715000" cy="868680"/>
          </a:xfrm>
          <a:prstGeom prst="rect">
            <a:avLst/>
          </a:prstGeom>
          <a:solidFill>
            <a:srgbClr val="1A2A3A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5394960"/>
            <a:ext cx="658368" cy="8686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5394960"/>
            <a:ext cx="658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54864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• User login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58155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• Logout events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28600" y="6263640"/>
            <a:ext cx="5715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28600" y="6263640"/>
            <a:ext cx="658368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8600" y="6263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" y="63550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• Staff added/updated/deleted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28600" y="6976872"/>
            <a:ext cx="5715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F6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28600" y="6976872"/>
            <a:ext cx="658368" cy="65836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8600" y="6976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0120" y="70683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• Installation target updates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28600" y="7690104"/>
            <a:ext cx="5715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28600" y="7690104"/>
            <a:ext cx="658368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76901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60120" y="778154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• Project created/modified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28600" y="8403336"/>
            <a:ext cx="5715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28600" y="8403336"/>
            <a:ext cx="658368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8600" y="8403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INV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0120" y="84947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</a:rPr>
              <a:t>• Inventory dispatch/return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13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3828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100584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B2A"/>
                </a:solidFill>
              </a:rPr>
              <a:t>Why Choose Surya Operations?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88920" cy="208483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795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🌞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1752" y="168249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Solar-First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" y="2011680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Every feature built for solar installation workflows — not adapted from a generic CRM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27248" y="1097280"/>
            <a:ext cx="2788920" cy="208483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1097280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11795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0" y="168249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Geo Hierarchy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District → Block → Panchayat → Ward → Pole — the exact structure government projects need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273552"/>
            <a:ext cx="2788920" cy="208483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273552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355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1752" y="385876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Serial &amp; QR Tracking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" y="4187952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Every solar panel and streetlight tracked by serial number with QR dispatch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27248" y="3273552"/>
            <a:ext cx="2788920" cy="208483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27248" y="3273552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7248" y="3355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0" y="3858768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Field-Ready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187952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Mobile-optimized views for site engineers submitting updates from the field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5449824"/>
            <a:ext cx="2788920" cy="208483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5449824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5532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01752" y="603504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JICR Reports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" y="6364224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Auto-generate government-format Joint Inspection Completion Reports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27248" y="5449824"/>
            <a:ext cx="2788920" cy="208483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27248" y="5449824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27248" y="5532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200400" y="6035040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Billing Workflows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6364224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TA/DA claims, conveyance billing — all inside the same platform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7626096"/>
            <a:ext cx="2788920" cy="208483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7626096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7708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01752" y="821131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Live Analytics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01752" y="8540496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Real-time performance dashboards, leaderboards, and export-ready reports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127248" y="7626096"/>
            <a:ext cx="2788920" cy="2084832"/>
          </a:xfrm>
          <a:prstGeom prst="rect">
            <a:avLst/>
          </a:prstGeom>
          <a:solidFill>
            <a:srgbClr val="1A2A3A"/>
          </a:solidFill>
          <a:ln w="12700">
            <a:solidFill>
              <a:srgbClr val="2A3F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27248" y="7626096"/>
            <a:ext cx="278892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7248" y="7708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200400" y="8211312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6A623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0" y="8540496"/>
            <a:ext cx="2642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0F4F8"/>
                </a:solidFill>
              </a:rPr>
              <a:t>Complete activity logs so management always knows who did what and when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9784080"/>
            <a:ext cx="61722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978408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managing your solar projects smarter. Get Surya Operations.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10625328"/>
            <a:ext cx="6172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SURYA OPERATIONS  ·  14 / 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39551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81EB59-BBA6-354F-90E5-C23C54057363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3addbf9a-ab88-465d-af56-26168d24e8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1187</Words>
  <Application>Microsoft Macintosh PowerPoint</Application>
  <PresentationFormat>Custom</PresentationFormat>
  <Paragraphs>294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sumit ranjan</cp:lastModifiedBy>
  <cp:revision>2</cp:revision>
  <dcterms:created xsi:type="dcterms:W3CDTF">2026-04-21T18:56:49Z</dcterms:created>
  <dcterms:modified xsi:type="dcterms:W3CDTF">2026-04-21T19:27:47Z</dcterms:modified>
</cp:coreProperties>
</file>